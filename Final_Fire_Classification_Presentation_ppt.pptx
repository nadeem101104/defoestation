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7" r:id="rId8"/>
    <p:sldId id="266" r:id="rId9"/>
    <p:sldId id="265" r:id="rId10"/>
    <p:sldId id="264" r:id="rId11"/>
    <p:sldId id="268" r:id="rId12"/>
    <p:sldId id="263" r:id="rId13"/>
    <p:sldId id="262"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82" autoAdjust="0"/>
    <p:restoredTop sz="94660"/>
  </p:normalViewPr>
  <p:slideViewPr>
    <p:cSldViewPr snapToGrid="0">
      <p:cViewPr varScale="1">
        <p:scale>
          <a:sx n="92" d="100"/>
          <a:sy n="92" d="100"/>
        </p:scale>
        <p:origin x="293" y="6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20" Type="http://customschemas.google.com/relationships/presentationmetadata" Target="metadata"/><Relationship Id="rId5" Type="http://schemas.openxmlformats.org/officeDocument/2006/relationships/slide" Target="slides/slide4.xml"/><Relationship Id="rId10" Type="http://schemas.openxmlformats.org/officeDocument/2006/relationships/slide" Target="slides/slide9.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5121645" y="3332887"/>
            <a:ext cx="6870861" cy="1754326"/>
          </a:xfrm>
          <a:prstGeom prst="rect">
            <a:avLst/>
          </a:prstGeom>
          <a:noFill/>
        </p:spPr>
        <p:txBody>
          <a:bodyPr wrap="square" rtlCol="0">
            <a:spAutoFit/>
          </a:bodyPr>
          <a:lstStyle/>
          <a:p>
            <a:pPr algn="just"/>
            <a:r>
              <a:rPr lang="en-US" sz="3600" b="1" dirty="0">
                <a:solidFill>
                  <a:schemeClr val="bg1"/>
                </a:solidFill>
                <a:latin typeface="Calibri" panose="020F0502020204030204" pitchFamily="34" charset="0"/>
                <a:cs typeface="Times New Roman" panose="02020603050405020304" pitchFamily="18" charset="0"/>
              </a:rPr>
              <a:t>Deforestation</a:t>
            </a:r>
            <a:r>
              <a:rPr lang="en-US" sz="2400" b="1" dirty="0">
                <a:solidFill>
                  <a:schemeClr val="bg1"/>
                </a:solidFill>
                <a:latin typeface="Calibri" panose="020F0502020204030204" pitchFamily="34" charset="0"/>
                <a:cs typeface="Times New Roman" panose="02020603050405020304" pitchFamily="18" charset="0"/>
              </a:rPr>
              <a:t>(Fire Classification)</a:t>
            </a:r>
          </a:p>
          <a:p>
            <a:pPr algn="just"/>
            <a:r>
              <a:rPr lang="en-US" sz="2400" b="1" dirty="0">
                <a:solidFill>
                  <a:schemeClr val="bg1"/>
                </a:solidFill>
                <a:latin typeface="Calibri" panose="020F0502020204030204" pitchFamily="34" charset="0"/>
                <a:cs typeface="Times New Roman" panose="02020603050405020304" pitchFamily="18" charset="0"/>
              </a:rPr>
              <a:t>Nadeem Khan</a:t>
            </a:r>
          </a:p>
          <a:p>
            <a:pPr algn="just"/>
            <a:r>
              <a:rPr lang="en-US" sz="2400" b="1" dirty="0">
                <a:solidFill>
                  <a:schemeClr val="bg1"/>
                </a:solidFill>
                <a:latin typeface="Calibri" panose="020F0502020204030204" pitchFamily="34" charset="0"/>
                <a:cs typeface="Times New Roman" panose="02020603050405020304" pitchFamily="18" charset="0"/>
              </a:rPr>
              <a:t>BU22CSEN0300262</a:t>
            </a:r>
          </a:p>
          <a:p>
            <a:pPr algn="just"/>
            <a:r>
              <a:rPr lang="en-US" sz="2400" b="1" dirty="0">
                <a:solidFill>
                  <a:schemeClr val="bg1"/>
                </a:solidFill>
                <a:latin typeface="Arial" panose="020B0604020202020204" pitchFamily="34" charset="0"/>
                <a:cs typeface="Arial" panose="020B0604020202020204" pitchFamily="34" charset="0"/>
              </a:rPr>
              <a:t>STU64d72c792c88a1691823225</a:t>
            </a:r>
          </a:p>
        </p:txBody>
      </p:sp>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67419" y="868863"/>
            <a:ext cx="1263157" cy="410834"/>
          </a:xfrm>
          <a:prstGeom prst="rect">
            <a:avLst/>
          </a:prstGeom>
        </p:spPr>
      </p:pic>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8" name="TextBox 7">
            <a:extLst>
              <a:ext uri="{FF2B5EF4-FFF2-40B4-BE49-F238E27FC236}">
                <a16:creationId xmlns:a16="http://schemas.microsoft.com/office/drawing/2014/main" id="{3C4820DE-CED0-887D-9C84-CF2DD3002D2C}"/>
              </a:ext>
            </a:extLst>
          </p:cNvPr>
          <p:cNvSpPr txBox="1"/>
          <p:nvPr/>
        </p:nvSpPr>
        <p:spPr>
          <a:xfrm>
            <a:off x="191912" y="1808027"/>
            <a:ext cx="7143610" cy="4247317"/>
          </a:xfrm>
          <a:prstGeom prst="rect">
            <a:avLst/>
          </a:prstGeom>
          <a:noFill/>
        </p:spPr>
        <p:txBody>
          <a:bodyPr wrap="square" rtlCol="0">
            <a:spAutoFit/>
          </a:bodyPr>
          <a:lstStyle/>
          <a:p>
            <a:pPr marL="342900" indent="-342900">
              <a:buFont typeface="+mj-lt"/>
              <a:buAutoNum type="arabicPeriod"/>
            </a:pPr>
            <a:r>
              <a:rPr lang="en-US" sz="1800" dirty="0"/>
              <a:t>Understand the importance of satellite-based fire detection in environmental monitoring.</a:t>
            </a:r>
          </a:p>
          <a:p>
            <a:pPr marL="342900" indent="-342900">
              <a:buFont typeface="+mj-lt"/>
              <a:buAutoNum type="arabicPeriod"/>
            </a:pPr>
            <a:r>
              <a:rPr lang="en-US" sz="1800" dirty="0"/>
              <a:t>Explore and preprocess real-world geospatial datasets from the MODIS satellite.</a:t>
            </a:r>
          </a:p>
          <a:p>
            <a:pPr marL="342900" indent="-342900">
              <a:buFont typeface="+mj-lt"/>
              <a:buAutoNum type="arabicPeriod"/>
            </a:pPr>
            <a:r>
              <a:rPr lang="en-US" sz="1800" dirty="0"/>
              <a:t>Perform feature selection and scaling to prepare data for machine learning.</a:t>
            </a:r>
          </a:p>
          <a:p>
            <a:pPr marL="342900" indent="-342900">
              <a:buFont typeface="+mj-lt"/>
              <a:buAutoNum type="arabicPeriod"/>
            </a:pPr>
            <a:r>
              <a:rPr lang="en-US" sz="1800" dirty="0"/>
              <a:t>Apply multiple classification algorithms (Logistic Regression, Random Forest, KNN, </a:t>
            </a:r>
            <a:r>
              <a:rPr lang="en-US" sz="1800" dirty="0" err="1"/>
              <a:t>XGBoost</a:t>
            </a:r>
            <a:r>
              <a:rPr lang="en-US" sz="1800" dirty="0"/>
              <a:t>) to label fire types.</a:t>
            </a:r>
          </a:p>
          <a:p>
            <a:pPr marL="342900" indent="-342900">
              <a:buFont typeface="+mj-lt"/>
              <a:buAutoNum type="arabicPeriod"/>
            </a:pPr>
            <a:r>
              <a:rPr lang="en-US" sz="1800" dirty="0"/>
              <a:t>Evaluate models using standard metrics like accuracy, confusion matrix, and classification report.</a:t>
            </a:r>
          </a:p>
          <a:p>
            <a:pPr marL="342900" indent="-342900">
              <a:buFont typeface="+mj-lt"/>
              <a:buAutoNum type="arabicPeriod"/>
            </a:pPr>
            <a:r>
              <a:rPr lang="en-US" sz="1800" dirty="0"/>
              <a:t>Interpret geographic and statistical patterns from visualizations to derive actionable insights.</a:t>
            </a:r>
          </a:p>
          <a:p>
            <a:pPr marL="342900" indent="-342900">
              <a:buFont typeface="+mj-lt"/>
              <a:buAutoNum type="arabicPeriod"/>
            </a:pPr>
            <a:r>
              <a:rPr lang="en-US" sz="1800" dirty="0"/>
              <a:t>Build a deployable ML solution for real-time fire type classification.</a:t>
            </a:r>
          </a:p>
          <a:p>
            <a:pPr marL="342900" indent="-342900">
              <a:buFont typeface="+mj-lt"/>
              <a:buAutoNum type="arabicPeriod"/>
            </a:pPr>
            <a:endParaRPr lang="en-IN" sz="1800" dirty="0"/>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35834" y="1067664"/>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sp>
        <p:nvSpPr>
          <p:cNvPr id="2" name="TextBox 1">
            <a:extLst>
              <a:ext uri="{FF2B5EF4-FFF2-40B4-BE49-F238E27FC236}">
                <a16:creationId xmlns:a16="http://schemas.microsoft.com/office/drawing/2014/main" id="{D03C4E2D-C3D8-F20C-BD18-7E0D63D557DB}"/>
              </a:ext>
            </a:extLst>
          </p:cNvPr>
          <p:cNvSpPr txBox="1"/>
          <p:nvPr/>
        </p:nvSpPr>
        <p:spPr>
          <a:xfrm>
            <a:off x="135834" y="1653872"/>
            <a:ext cx="11354463" cy="4801314"/>
          </a:xfrm>
          <a:prstGeom prst="rect">
            <a:avLst/>
          </a:prstGeom>
          <a:noFill/>
        </p:spPr>
        <p:txBody>
          <a:bodyPr wrap="square" rtlCol="0">
            <a:spAutoFit/>
          </a:bodyPr>
          <a:lstStyle/>
          <a:p>
            <a:pPr lvl="1"/>
            <a:r>
              <a:rPr lang="en-IN" sz="1800" b="1" dirty="0"/>
              <a:t>Programming Language</a:t>
            </a:r>
            <a:endParaRPr lang="en-IN" sz="1800" dirty="0"/>
          </a:p>
          <a:p>
            <a:pPr lvl="1"/>
            <a:r>
              <a:rPr lang="en-IN" sz="1800" dirty="0"/>
              <a:t>Python – for data processing, visualization, and model building</a:t>
            </a:r>
          </a:p>
          <a:p>
            <a:pPr lvl="1"/>
            <a:r>
              <a:rPr lang="en-IN" sz="1800" b="1" dirty="0"/>
              <a:t>Data Handling &amp; Analysis</a:t>
            </a:r>
            <a:endParaRPr lang="en-IN" sz="1800" dirty="0"/>
          </a:p>
          <a:p>
            <a:pPr lvl="1"/>
            <a:r>
              <a:rPr lang="en-IN" sz="1800" dirty="0"/>
              <a:t>Pandas – for data manipulation and cleaning</a:t>
            </a:r>
          </a:p>
          <a:p>
            <a:pPr lvl="1"/>
            <a:r>
              <a:rPr lang="en-IN" sz="1800" dirty="0"/>
              <a:t>NumPy – for numerical computations</a:t>
            </a:r>
          </a:p>
          <a:p>
            <a:pPr lvl="1"/>
            <a:r>
              <a:rPr lang="en-IN" sz="1800" dirty="0"/>
              <a:t>Matplotlib, Seaborn – for visualizations</a:t>
            </a:r>
          </a:p>
          <a:p>
            <a:pPr lvl="1"/>
            <a:r>
              <a:rPr lang="en-IN" sz="1800" b="1" dirty="0"/>
              <a:t>Machine Learning</a:t>
            </a:r>
            <a:endParaRPr lang="en-IN" sz="1800" dirty="0"/>
          </a:p>
          <a:p>
            <a:pPr lvl="1"/>
            <a:r>
              <a:rPr lang="en-IN" sz="1800" dirty="0"/>
              <a:t>Scikit-learn – for model training, evaluation, and preprocessing</a:t>
            </a:r>
          </a:p>
          <a:p>
            <a:pPr lvl="1"/>
            <a:r>
              <a:rPr lang="en-IN" sz="1800" dirty="0" err="1"/>
              <a:t>XGBoost</a:t>
            </a:r>
            <a:r>
              <a:rPr lang="en-IN" sz="1800" dirty="0"/>
              <a:t> – for gradient boosting classifier</a:t>
            </a:r>
          </a:p>
          <a:p>
            <a:pPr lvl="1"/>
            <a:r>
              <a:rPr lang="en-IN" sz="1800" dirty="0" err="1"/>
              <a:t>SelectKBest</a:t>
            </a:r>
            <a:r>
              <a:rPr lang="en-IN" sz="1800" dirty="0"/>
              <a:t> – for feature selection</a:t>
            </a:r>
          </a:p>
          <a:p>
            <a:pPr lvl="1"/>
            <a:r>
              <a:rPr lang="en-IN" sz="1800" b="1" dirty="0"/>
              <a:t>Geospatial Visualization</a:t>
            </a:r>
            <a:endParaRPr lang="en-IN" sz="1800" dirty="0"/>
          </a:p>
          <a:p>
            <a:pPr lvl="1"/>
            <a:r>
              <a:rPr lang="en-IN" sz="1800" dirty="0"/>
              <a:t>Folium – for plotting fire locations on interactive maps</a:t>
            </a:r>
          </a:p>
          <a:p>
            <a:pPr lvl="1"/>
            <a:r>
              <a:rPr lang="en-IN" sz="1800" b="1" dirty="0"/>
              <a:t>Deployment (Optional/Advanced)</a:t>
            </a:r>
            <a:endParaRPr lang="en-IN" sz="1800" dirty="0"/>
          </a:p>
          <a:p>
            <a:pPr lvl="1"/>
            <a:r>
              <a:rPr lang="en-IN" sz="1800" dirty="0" err="1"/>
              <a:t>Streamlit</a:t>
            </a:r>
            <a:r>
              <a:rPr lang="en-IN" sz="1800" dirty="0"/>
              <a:t> – to create an interactive web app interface</a:t>
            </a:r>
          </a:p>
          <a:p>
            <a:pPr lvl="1"/>
            <a:r>
              <a:rPr lang="en-IN" sz="1800" b="1" dirty="0"/>
              <a:t>Development Environment</a:t>
            </a:r>
            <a:endParaRPr lang="en-IN" sz="1800" dirty="0"/>
          </a:p>
          <a:p>
            <a:pPr lvl="1"/>
            <a:r>
              <a:rPr lang="en-IN" sz="1800" dirty="0" err="1"/>
              <a:t>Jupyter</a:t>
            </a:r>
            <a:r>
              <a:rPr lang="en-IN" sz="1800" dirty="0"/>
              <a:t> Notebook – for experimentation and step-by-step development</a:t>
            </a:r>
          </a:p>
          <a:p>
            <a:pPr lvl="1"/>
            <a:r>
              <a:rPr lang="en-IN" sz="1800" dirty="0"/>
              <a:t>Google </a:t>
            </a:r>
            <a:r>
              <a:rPr lang="en-IN" sz="1800" dirty="0" err="1"/>
              <a:t>Colab</a:t>
            </a:r>
            <a:r>
              <a:rPr lang="en-IN" sz="1800" dirty="0"/>
              <a:t> / VS Code – for executing notebooks or scripts</a:t>
            </a:r>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1014656"/>
            <a:ext cx="6102626" cy="400110"/>
          </a:xfrm>
          <a:prstGeom prst="rect">
            <a:avLst/>
          </a:prstGeom>
          <a:noFill/>
        </p:spPr>
        <p:txBody>
          <a:bodyPr wrap="square">
            <a:spAutoFit/>
          </a:bodyPr>
          <a:lstStyle/>
          <a:p>
            <a:pPr lvl="1"/>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881452C6-0650-841C-35BF-74ACBC89B3E6}"/>
              </a:ext>
            </a:extLst>
          </p:cNvPr>
          <p:cNvSpPr txBox="1"/>
          <p:nvPr/>
        </p:nvSpPr>
        <p:spPr>
          <a:xfrm>
            <a:off x="268356" y="1414766"/>
            <a:ext cx="7812963" cy="5478423"/>
          </a:xfrm>
          <a:prstGeom prst="rect">
            <a:avLst/>
          </a:prstGeom>
          <a:noFill/>
        </p:spPr>
        <p:txBody>
          <a:bodyPr wrap="square" rtlCol="0">
            <a:spAutoFit/>
          </a:bodyPr>
          <a:lstStyle/>
          <a:p>
            <a:r>
              <a:rPr lang="en-US" sz="1400" b="1" dirty="0"/>
              <a:t>1. Data Collection</a:t>
            </a:r>
            <a:endParaRPr lang="en-US" sz="1400" dirty="0"/>
          </a:p>
          <a:p>
            <a:r>
              <a:rPr lang="en-US" sz="1400" dirty="0"/>
              <a:t>MODIS satellite fire data from 2021, 2022, and 2023 was collected and combined for analysis.</a:t>
            </a:r>
          </a:p>
          <a:p>
            <a:r>
              <a:rPr lang="en-US" sz="1400" b="1" dirty="0"/>
              <a:t>2. Data Preprocessing</a:t>
            </a:r>
            <a:endParaRPr lang="en-US" sz="1400" dirty="0"/>
          </a:p>
          <a:p>
            <a:r>
              <a:rPr lang="en-US" sz="1400" dirty="0"/>
              <a:t>Handled missing values and removed duplicates</a:t>
            </a:r>
          </a:p>
          <a:p>
            <a:r>
              <a:rPr lang="en-US" sz="1400" dirty="0"/>
              <a:t>Encoded categorical variables using Label Encoding and One-Hot Encoding</a:t>
            </a:r>
          </a:p>
          <a:p>
            <a:r>
              <a:rPr lang="en-US" sz="1400" dirty="0"/>
              <a:t>Normalized continuous features using </a:t>
            </a:r>
            <a:r>
              <a:rPr lang="en-US" sz="1400" dirty="0" err="1"/>
              <a:t>StandardScaler</a:t>
            </a:r>
            <a:endParaRPr lang="en-US" sz="1400" dirty="0"/>
          </a:p>
          <a:p>
            <a:r>
              <a:rPr lang="en-US" sz="1400" dirty="0"/>
              <a:t>Selected top features using </a:t>
            </a:r>
            <a:r>
              <a:rPr lang="en-US" sz="1400" dirty="0" err="1"/>
              <a:t>SelectKBest</a:t>
            </a:r>
            <a:r>
              <a:rPr lang="en-US" sz="1400" dirty="0"/>
              <a:t> with </a:t>
            </a:r>
            <a:r>
              <a:rPr lang="en-US" sz="1400" dirty="0" err="1"/>
              <a:t>f_classif</a:t>
            </a:r>
            <a:r>
              <a:rPr lang="en-US" sz="1400" dirty="0"/>
              <a:t> and </a:t>
            </a:r>
            <a:r>
              <a:rPr lang="en-US" sz="1400" dirty="0" err="1"/>
              <a:t>mutual_info_classif</a:t>
            </a:r>
            <a:endParaRPr lang="en-US" sz="1400" dirty="0"/>
          </a:p>
          <a:p>
            <a:r>
              <a:rPr lang="en-US" sz="1400" b="1" dirty="0"/>
              <a:t>3. Exploratory Data Analysis (EDA)</a:t>
            </a:r>
            <a:endParaRPr lang="en-US" sz="1400" dirty="0"/>
          </a:p>
          <a:p>
            <a:r>
              <a:rPr lang="en-US" sz="1400" dirty="0"/>
              <a:t>Analyzed distribution of fire types and confidence scores</a:t>
            </a:r>
          </a:p>
          <a:p>
            <a:r>
              <a:rPr lang="en-US" sz="1400" dirty="0"/>
              <a:t>Visualized fire occurrences by latitude, longitude, satellite, and day/night</a:t>
            </a:r>
          </a:p>
          <a:p>
            <a:r>
              <a:rPr lang="en-US" sz="1400" dirty="0"/>
              <a:t>Plotted spatial fire patterns using Folium</a:t>
            </a:r>
          </a:p>
          <a:p>
            <a:r>
              <a:rPr lang="en-US" sz="1400" b="1" dirty="0"/>
              <a:t>4. Model Building</a:t>
            </a:r>
            <a:endParaRPr lang="en-US" sz="1400" dirty="0"/>
          </a:p>
          <a:p>
            <a:r>
              <a:rPr lang="en-US" sz="1400" dirty="0"/>
              <a:t>Split data into training and testing sets using </a:t>
            </a:r>
            <a:r>
              <a:rPr lang="en-US" sz="1400" dirty="0" err="1"/>
              <a:t>train_test_split</a:t>
            </a:r>
            <a:endParaRPr lang="en-US" sz="1400" dirty="0"/>
          </a:p>
          <a:p>
            <a:r>
              <a:rPr lang="en-US" sz="1400" dirty="0"/>
              <a:t>Trained multiple classification models:</a:t>
            </a:r>
          </a:p>
          <a:p>
            <a:pPr lvl="1"/>
            <a:r>
              <a:rPr lang="en-US" sz="1400" dirty="0"/>
              <a:t>Logistic Regression</a:t>
            </a:r>
          </a:p>
          <a:p>
            <a:pPr lvl="1"/>
            <a:r>
              <a:rPr lang="en-US" sz="1400" dirty="0"/>
              <a:t>Random Forest</a:t>
            </a:r>
          </a:p>
          <a:p>
            <a:pPr lvl="1"/>
            <a:r>
              <a:rPr lang="en-US" sz="1400" dirty="0"/>
              <a:t>K-Nearest Neighbors (KNN)</a:t>
            </a:r>
          </a:p>
          <a:p>
            <a:pPr lvl="1"/>
            <a:r>
              <a:rPr lang="en-US" sz="1400" dirty="0" err="1"/>
              <a:t>XGBoost</a:t>
            </a:r>
            <a:endParaRPr lang="en-US" sz="1400" dirty="0"/>
          </a:p>
          <a:p>
            <a:r>
              <a:rPr lang="en-US" sz="1400" b="1" dirty="0"/>
              <a:t>5. Model Evaluation</a:t>
            </a:r>
            <a:endParaRPr lang="en-US" sz="1400" dirty="0"/>
          </a:p>
          <a:p>
            <a:r>
              <a:rPr lang="en-US" sz="1400" dirty="0"/>
              <a:t>Evaluated performance using accuracy score, classification report, and confusion matrix</a:t>
            </a:r>
          </a:p>
          <a:p>
            <a:r>
              <a:rPr lang="en-US" sz="1400" dirty="0"/>
              <a:t>Compared models to identify the best performing classifier</a:t>
            </a:r>
          </a:p>
          <a:p>
            <a:r>
              <a:rPr lang="en-US" sz="1400" b="1" dirty="0"/>
              <a:t>6. Interpretation and Insights</a:t>
            </a:r>
            <a:endParaRPr lang="en-US" sz="1400" dirty="0"/>
          </a:p>
          <a:p>
            <a:r>
              <a:rPr lang="en-US" sz="1400" dirty="0"/>
              <a:t>Analyzed fire type patterns and model predictions</a:t>
            </a:r>
          </a:p>
          <a:p>
            <a:r>
              <a:rPr lang="en-US" sz="1400" dirty="0"/>
              <a:t>Identified geographic and statistical trends in the data</a:t>
            </a:r>
          </a:p>
          <a:p>
            <a:endParaRPr lang="en-IN" sz="1400" dirty="0"/>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2" name="TextBox 1">
            <a:extLst>
              <a:ext uri="{FF2B5EF4-FFF2-40B4-BE49-F238E27FC236}">
                <a16:creationId xmlns:a16="http://schemas.microsoft.com/office/drawing/2014/main" id="{E327BC5A-C936-C142-F353-35224B9AC134}"/>
              </a:ext>
            </a:extLst>
          </p:cNvPr>
          <p:cNvSpPr txBox="1"/>
          <p:nvPr/>
        </p:nvSpPr>
        <p:spPr>
          <a:xfrm>
            <a:off x="255104" y="1454522"/>
            <a:ext cx="9012195" cy="3539430"/>
          </a:xfrm>
          <a:prstGeom prst="rect">
            <a:avLst/>
          </a:prstGeom>
          <a:noFill/>
        </p:spPr>
        <p:txBody>
          <a:bodyPr wrap="square" rtlCol="0">
            <a:spAutoFit/>
          </a:bodyPr>
          <a:lstStyle/>
          <a:p>
            <a:r>
              <a:rPr lang="en-US" sz="1600" b="1" dirty="0"/>
              <a:t>India experiences numerous fire incidents every year, which pose serious risks to forests, agriculture, human life, and property. Timely identification and classification of these fires are critical for effective response and resource management.</a:t>
            </a:r>
          </a:p>
          <a:p>
            <a:r>
              <a:rPr lang="en-US" sz="1600" b="1" dirty="0"/>
              <a:t>Despite the availability of satellite data, there is a lack of automated systems to accurately classify fire types based on relevant features like location, time, and detection confidence.</a:t>
            </a:r>
          </a:p>
          <a:p>
            <a:endParaRPr lang="en-US" sz="1600" b="1" dirty="0"/>
          </a:p>
          <a:p>
            <a:r>
              <a:rPr lang="en-US" sz="1600" dirty="0"/>
              <a:t>This project aims to develop a machine learning-based classification system using MODIS satellite data to:</a:t>
            </a:r>
          </a:p>
          <a:p>
            <a:endParaRPr lang="en-US" sz="1600" dirty="0"/>
          </a:p>
          <a:p>
            <a:pPr marL="342900" indent="-342900">
              <a:buFont typeface="+mj-lt"/>
              <a:buAutoNum type="arabicPeriod"/>
            </a:pPr>
            <a:r>
              <a:rPr lang="en-US" sz="1600" b="1" dirty="0"/>
              <a:t>Identify and classify fire types across India</a:t>
            </a:r>
          </a:p>
          <a:p>
            <a:pPr marL="342900" indent="-342900">
              <a:buFont typeface="+mj-lt"/>
              <a:buAutoNum type="arabicPeriod"/>
            </a:pPr>
            <a:r>
              <a:rPr lang="en-US" sz="1600" b="1" dirty="0"/>
              <a:t>Analyze spatial and temporal patterns of fire incidents</a:t>
            </a:r>
          </a:p>
          <a:p>
            <a:pPr marL="342900" indent="-342900">
              <a:buFont typeface="+mj-lt"/>
              <a:buAutoNum type="arabicPeriod"/>
            </a:pPr>
            <a:r>
              <a:rPr lang="en-US" sz="1600" b="1" dirty="0"/>
              <a:t>Support authorities in making faster, data-driven decisions</a:t>
            </a:r>
          </a:p>
          <a:p>
            <a:endParaRPr lang="en-US" sz="1600" dirty="0"/>
          </a:p>
          <a:p>
            <a:endParaRPr lang="en-IN" sz="1600" dirty="0"/>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11512826" cy="4196533"/>
          </a:xfrm>
          <a:prstGeom prst="rect">
            <a:avLst/>
          </a:prstGeom>
          <a:noFill/>
        </p:spPr>
        <p:txBody>
          <a:bodyPr wrap="square">
            <a:spAutoFit/>
          </a:bodyPr>
          <a:lstStyle/>
          <a:p>
            <a:r>
              <a:rPr lang="en-US" sz="1870" b="1" dirty="0">
                <a:solidFill>
                  <a:srgbClr val="213163"/>
                </a:solidFill>
              </a:rPr>
              <a:t>Solution: </a:t>
            </a:r>
          </a:p>
          <a:p>
            <a:endParaRPr lang="en-US" sz="1400" b="1" dirty="0">
              <a:solidFill>
                <a:srgbClr val="213163"/>
              </a:solidFill>
            </a:endParaRPr>
          </a:p>
          <a:p>
            <a:endParaRPr lang="en-US" sz="1400" b="1" dirty="0">
              <a:solidFill>
                <a:srgbClr val="213163"/>
              </a:solidFill>
            </a:endParaRPr>
          </a:p>
          <a:p>
            <a:endParaRPr lang="en-US" sz="1400" b="1" dirty="0">
              <a:solidFill>
                <a:srgbClr val="213163"/>
              </a:solidFill>
            </a:endParaRPr>
          </a:p>
          <a:p>
            <a:pPr marL="342900" indent="-342900">
              <a:buFont typeface="+mj-lt"/>
              <a:buAutoNum type="arabicPeriod"/>
            </a:pPr>
            <a:r>
              <a:rPr lang="en-US" sz="1600" dirty="0"/>
              <a:t>To address the problem of timely and accurate fire type classification in India, a machine learning-based solution was developed using MODIS satellite data.</a:t>
            </a:r>
          </a:p>
          <a:p>
            <a:pPr marL="342900" indent="-342900">
              <a:buFont typeface="+mj-lt"/>
              <a:buAutoNum type="arabicPeriod"/>
            </a:pPr>
            <a:r>
              <a:rPr lang="en-US" sz="1600" dirty="0"/>
              <a:t>The solution involves the following steps:</a:t>
            </a:r>
          </a:p>
          <a:p>
            <a:pPr marL="342900" indent="-342900">
              <a:buFont typeface="+mj-lt"/>
              <a:buAutoNum type="arabicPeriod"/>
            </a:pPr>
            <a:r>
              <a:rPr lang="en-US" sz="1600" dirty="0"/>
              <a:t>Collection and merging of MODIS fire data from 2021, 2022, and 2023</a:t>
            </a:r>
          </a:p>
          <a:p>
            <a:pPr marL="342900" indent="-342900">
              <a:buFont typeface="+mj-lt"/>
              <a:buAutoNum type="arabicPeriod"/>
            </a:pPr>
            <a:r>
              <a:rPr lang="en-US" sz="1600" dirty="0"/>
              <a:t>Preprocessing the data by handling missing values, encoding categorical variables, and normalizing features</a:t>
            </a:r>
          </a:p>
          <a:p>
            <a:pPr marL="342900" indent="-342900">
              <a:buFont typeface="+mj-lt"/>
              <a:buAutoNum type="arabicPeriod"/>
            </a:pPr>
            <a:r>
              <a:rPr lang="en-US" sz="1600" dirty="0"/>
              <a:t>Performing exploratory data analysis to understand patterns in fire types and confidence levels</a:t>
            </a:r>
          </a:p>
          <a:p>
            <a:pPr marL="342900" indent="-342900">
              <a:buFont typeface="+mj-lt"/>
              <a:buAutoNum type="arabicPeriod"/>
            </a:pPr>
            <a:r>
              <a:rPr lang="en-US" sz="1600" dirty="0"/>
              <a:t>Selecting the most relevant features using statistical methods</a:t>
            </a:r>
          </a:p>
          <a:p>
            <a:pPr marL="342900" indent="-342900">
              <a:buFont typeface="+mj-lt"/>
              <a:buAutoNum type="arabicPeriod"/>
            </a:pPr>
            <a:r>
              <a:rPr lang="en-US" sz="1600" dirty="0"/>
              <a:t>Training multiple classification models (Logistic Regression, Random Forest, KNN, </a:t>
            </a:r>
            <a:r>
              <a:rPr lang="en-US" sz="1600" dirty="0" err="1"/>
              <a:t>XGBoost</a:t>
            </a:r>
            <a:r>
              <a:rPr lang="en-US" sz="1600" dirty="0"/>
              <a:t>) to predict fire types</a:t>
            </a:r>
          </a:p>
          <a:p>
            <a:pPr marL="342900" indent="-342900">
              <a:buFont typeface="+mj-lt"/>
              <a:buAutoNum type="arabicPeriod"/>
            </a:pPr>
            <a:r>
              <a:rPr lang="en-US" sz="1600" dirty="0"/>
              <a:t>Evaluating model performance using accuracy, confusion matrix, and classification report</a:t>
            </a:r>
          </a:p>
          <a:p>
            <a:pPr marL="342900" indent="-342900">
              <a:buFont typeface="+mj-lt"/>
              <a:buAutoNum type="arabicPeriod"/>
            </a:pPr>
            <a:r>
              <a:rPr lang="en-US" sz="1600" dirty="0"/>
              <a:t>Visualizing geographic distribution of fires to identify high-risk zones</a:t>
            </a:r>
          </a:p>
          <a:p>
            <a:pPr marL="342900" indent="-342900">
              <a:buFont typeface="+mj-lt"/>
              <a:buAutoNum type="arabicPeriod"/>
            </a:pPr>
            <a:r>
              <a:rPr lang="en-US" sz="1600" dirty="0"/>
              <a:t>The final model provides a reliable and automated way to classify fire types, which can be integrated into early-warning and disaster management systems.</a:t>
            </a:r>
          </a:p>
          <a:p>
            <a:r>
              <a:rPr lang="en-US" sz="1400" b="1" dirty="0">
                <a:solidFill>
                  <a:srgbClr val="213163"/>
                </a:solidFill>
              </a:rPr>
              <a:t> </a:t>
            </a:r>
            <a:endParaRPr lang="en-IN" sz="1400" b="1" dirty="0">
              <a:solidFill>
                <a:srgbClr val="213163"/>
              </a:solidFill>
            </a:endParaRPr>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52B63-5271-CC04-611B-485D82F90C0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122AF35-E3B4-7085-B049-630A63833A09}"/>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5" name="Picture 4">
            <a:extLst>
              <a:ext uri="{FF2B5EF4-FFF2-40B4-BE49-F238E27FC236}">
                <a16:creationId xmlns:a16="http://schemas.microsoft.com/office/drawing/2014/main" id="{EFFD4960-9177-E950-9394-CA1BDA4D9772}"/>
              </a:ext>
            </a:extLst>
          </p:cNvPr>
          <p:cNvPicPr>
            <a:picLocks noChangeAspect="1"/>
          </p:cNvPicPr>
          <p:nvPr/>
        </p:nvPicPr>
        <p:blipFill>
          <a:blip r:embed="rId2"/>
          <a:stretch>
            <a:fillRect/>
          </a:stretch>
        </p:blipFill>
        <p:spPr>
          <a:xfrm>
            <a:off x="598516" y="1692505"/>
            <a:ext cx="9083040" cy="4825365"/>
          </a:xfrm>
          <a:prstGeom prst="rect">
            <a:avLst/>
          </a:prstGeom>
        </p:spPr>
      </p:pic>
    </p:spTree>
    <p:extLst>
      <p:ext uri="{BB962C8B-B14F-4D97-AF65-F5344CB8AC3E}">
        <p14:creationId xmlns:p14="http://schemas.microsoft.com/office/powerpoint/2010/main" val="284899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62F78-A09C-1F77-C8A3-97AA565F54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344D4E-4A41-8572-33FE-DE689C39DDE0}"/>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5" name="Picture 4">
            <a:extLst>
              <a:ext uri="{FF2B5EF4-FFF2-40B4-BE49-F238E27FC236}">
                <a16:creationId xmlns:a16="http://schemas.microsoft.com/office/drawing/2014/main" id="{3ACC807C-6A1C-0E6D-265A-B85D232D66FC}"/>
              </a:ext>
            </a:extLst>
          </p:cNvPr>
          <p:cNvPicPr>
            <a:picLocks noChangeAspect="1"/>
          </p:cNvPicPr>
          <p:nvPr/>
        </p:nvPicPr>
        <p:blipFill>
          <a:blip r:embed="rId2"/>
          <a:stretch>
            <a:fillRect/>
          </a:stretch>
        </p:blipFill>
        <p:spPr>
          <a:xfrm>
            <a:off x="851269" y="1682877"/>
            <a:ext cx="9264509" cy="4921770"/>
          </a:xfrm>
          <a:prstGeom prst="rect">
            <a:avLst/>
          </a:prstGeom>
        </p:spPr>
      </p:pic>
    </p:spTree>
    <p:extLst>
      <p:ext uri="{BB962C8B-B14F-4D97-AF65-F5344CB8AC3E}">
        <p14:creationId xmlns:p14="http://schemas.microsoft.com/office/powerpoint/2010/main" val="340886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C3247-B075-5089-8414-49799713186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0632F6B-19CF-BEFB-F5D7-760688D2C0B9}"/>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5" name="Picture 4">
            <a:extLst>
              <a:ext uri="{FF2B5EF4-FFF2-40B4-BE49-F238E27FC236}">
                <a16:creationId xmlns:a16="http://schemas.microsoft.com/office/drawing/2014/main" id="{A39B55B5-F298-1C24-6ADC-F46A9406B71B}"/>
              </a:ext>
            </a:extLst>
          </p:cNvPr>
          <p:cNvPicPr>
            <a:picLocks noChangeAspect="1"/>
          </p:cNvPicPr>
          <p:nvPr/>
        </p:nvPicPr>
        <p:blipFill>
          <a:blip r:embed="rId2"/>
          <a:stretch>
            <a:fillRect/>
          </a:stretch>
        </p:blipFill>
        <p:spPr>
          <a:xfrm>
            <a:off x="871268" y="1591135"/>
            <a:ext cx="9392103" cy="4989555"/>
          </a:xfrm>
          <a:prstGeom prst="rect">
            <a:avLst/>
          </a:prstGeom>
        </p:spPr>
      </p:pic>
    </p:spTree>
    <p:extLst>
      <p:ext uri="{BB962C8B-B14F-4D97-AF65-F5344CB8AC3E}">
        <p14:creationId xmlns:p14="http://schemas.microsoft.com/office/powerpoint/2010/main" val="3019750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FB13B-06AA-9858-CFD6-910F76C744E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3E006E-F596-B539-CBC9-BBCF50B153C6}"/>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5" name="Picture 4">
            <a:extLst>
              <a:ext uri="{FF2B5EF4-FFF2-40B4-BE49-F238E27FC236}">
                <a16:creationId xmlns:a16="http://schemas.microsoft.com/office/drawing/2014/main" id="{E3433BEF-D4ED-2B87-937D-B6FE17ADAACA}"/>
              </a:ext>
            </a:extLst>
          </p:cNvPr>
          <p:cNvPicPr>
            <a:picLocks noChangeAspect="1"/>
          </p:cNvPicPr>
          <p:nvPr/>
        </p:nvPicPr>
        <p:blipFill>
          <a:blip r:embed="rId2"/>
          <a:stretch>
            <a:fillRect/>
          </a:stretch>
        </p:blipFill>
        <p:spPr>
          <a:xfrm>
            <a:off x="648393" y="1607977"/>
            <a:ext cx="9116918" cy="4843363"/>
          </a:xfrm>
          <a:prstGeom prst="rect">
            <a:avLst/>
          </a:prstGeom>
        </p:spPr>
      </p:pic>
    </p:spTree>
    <p:extLst>
      <p:ext uri="{BB962C8B-B14F-4D97-AF65-F5344CB8AC3E}">
        <p14:creationId xmlns:p14="http://schemas.microsoft.com/office/powerpoint/2010/main" val="1153207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57622-0073-E86A-66C9-4D34DF62FC7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7A259DE-5364-28E8-C550-94FDB546E99A}"/>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5" name="Picture 4">
            <a:extLst>
              <a:ext uri="{FF2B5EF4-FFF2-40B4-BE49-F238E27FC236}">
                <a16:creationId xmlns:a16="http://schemas.microsoft.com/office/drawing/2014/main" id="{DE269E75-792B-3703-5726-86AFF789C0D1}"/>
              </a:ext>
            </a:extLst>
          </p:cNvPr>
          <p:cNvPicPr>
            <a:picLocks noChangeAspect="1"/>
          </p:cNvPicPr>
          <p:nvPr/>
        </p:nvPicPr>
        <p:blipFill>
          <a:blip r:embed="rId2"/>
          <a:stretch>
            <a:fillRect/>
          </a:stretch>
        </p:blipFill>
        <p:spPr>
          <a:xfrm>
            <a:off x="532015" y="1529337"/>
            <a:ext cx="9340733" cy="4962265"/>
          </a:xfrm>
          <a:prstGeom prst="rect">
            <a:avLst/>
          </a:prstGeom>
        </p:spPr>
      </p:pic>
    </p:spTree>
    <p:extLst>
      <p:ext uri="{BB962C8B-B14F-4D97-AF65-F5344CB8AC3E}">
        <p14:creationId xmlns:p14="http://schemas.microsoft.com/office/powerpoint/2010/main" val="2516934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4" name="Picture 3">
            <a:extLst>
              <a:ext uri="{FF2B5EF4-FFF2-40B4-BE49-F238E27FC236}">
                <a16:creationId xmlns:a16="http://schemas.microsoft.com/office/drawing/2014/main" id="{1310AEEF-89D3-4DD1-25EA-BA0E7CFA2CF7}"/>
              </a:ext>
            </a:extLst>
          </p:cNvPr>
          <p:cNvPicPr>
            <a:picLocks noChangeAspect="1"/>
          </p:cNvPicPr>
          <p:nvPr/>
        </p:nvPicPr>
        <p:blipFill>
          <a:blip r:embed="rId2"/>
          <a:stretch>
            <a:fillRect/>
          </a:stretch>
        </p:blipFill>
        <p:spPr>
          <a:xfrm>
            <a:off x="381663" y="1685675"/>
            <a:ext cx="8582107" cy="4827435"/>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11594990" cy="4524315"/>
          </a:xfrm>
          <a:prstGeom prst="rect">
            <a:avLst/>
          </a:prstGeom>
          <a:noFill/>
        </p:spPr>
        <p:txBody>
          <a:bodyPr wrap="square">
            <a:spAutoFit/>
          </a:bodyPr>
          <a:lstStyle/>
          <a:p>
            <a:r>
              <a:rPr lang="en-US" sz="1600" b="1" dirty="0">
                <a:solidFill>
                  <a:srgbClr val="213163"/>
                </a:solidFill>
              </a:rPr>
              <a:t>Conclusion: </a:t>
            </a:r>
          </a:p>
          <a:p>
            <a:endParaRPr lang="en-US" sz="1600" b="1" dirty="0">
              <a:solidFill>
                <a:srgbClr val="213163"/>
              </a:solidFill>
            </a:endParaRPr>
          </a:p>
          <a:p>
            <a:r>
              <a:rPr lang="en-US" sz="1600" dirty="0"/>
              <a:t>This project highlights the effectiveness of using machine learning for environmental monitoring, specifically for the classification of fire types across India using MODIS satellite data.</a:t>
            </a:r>
          </a:p>
          <a:p>
            <a:r>
              <a:rPr lang="en-US" sz="1600" dirty="0"/>
              <a:t>Key conclusions are:</a:t>
            </a:r>
          </a:p>
          <a:p>
            <a:pPr marL="285750" indent="-285750">
              <a:buFont typeface="Arial" panose="020B0604020202020204" pitchFamily="34" charset="0"/>
              <a:buChar char="•"/>
            </a:pPr>
            <a:r>
              <a:rPr lang="en-US" sz="1600" b="1" dirty="0"/>
              <a:t>Data-Driven Decision Making</a:t>
            </a:r>
            <a:r>
              <a:rPr lang="en-US" sz="1600" dirty="0"/>
              <a:t>: The system enables timely and informed decision-making by accurately identifying different types of fires using satellite data.</a:t>
            </a:r>
          </a:p>
          <a:p>
            <a:pPr marL="285750" indent="-285750">
              <a:buFont typeface="Arial" panose="020B0604020202020204" pitchFamily="34" charset="0"/>
              <a:buChar char="•"/>
            </a:pPr>
            <a:r>
              <a:rPr lang="en-US" sz="1600" b="1" dirty="0"/>
              <a:t>Model Performance</a:t>
            </a:r>
            <a:r>
              <a:rPr lang="en-US" sz="1600" dirty="0"/>
              <a:t>: Among the tested models, Random Forest and </a:t>
            </a:r>
            <a:r>
              <a:rPr lang="en-US" sz="1600" dirty="0" err="1"/>
              <a:t>XGBoost</a:t>
            </a:r>
            <a:r>
              <a:rPr lang="en-US" sz="1600" dirty="0"/>
              <a:t> classifiers showed superior performance in terms of accuracy and generalization, making them suitable for real-world deployment.</a:t>
            </a:r>
          </a:p>
          <a:p>
            <a:pPr marL="285750" indent="-285750">
              <a:buFont typeface="Arial" panose="020B0604020202020204" pitchFamily="34" charset="0"/>
              <a:buChar char="•"/>
            </a:pPr>
            <a:r>
              <a:rPr lang="en-US" sz="1600" b="1" dirty="0"/>
              <a:t>Feature Importance</a:t>
            </a:r>
            <a:r>
              <a:rPr lang="en-US" sz="1600" dirty="0"/>
              <a:t>: Features like latitude, longitude, satellite source, confidence score, and day/night detection were found to be highly significant in predicting fire types.</a:t>
            </a:r>
          </a:p>
          <a:p>
            <a:pPr marL="285750" indent="-285750">
              <a:buFont typeface="Arial" panose="020B0604020202020204" pitchFamily="34" charset="0"/>
              <a:buChar char="•"/>
            </a:pPr>
            <a:r>
              <a:rPr lang="en-US" sz="1600" b="1" dirty="0"/>
              <a:t>Geospatial Insights</a:t>
            </a:r>
            <a:r>
              <a:rPr lang="en-US" sz="1600" dirty="0"/>
              <a:t>: Spatial visualization using Folium maps helped uncover regional fire patterns, identifying zones with higher fire occurrence for preventive measures.</a:t>
            </a:r>
          </a:p>
          <a:p>
            <a:pPr marL="285750" indent="-285750">
              <a:buFont typeface="Arial" panose="020B0604020202020204" pitchFamily="34" charset="0"/>
              <a:buChar char="•"/>
            </a:pPr>
            <a:r>
              <a:rPr lang="en-US" sz="1600" b="1" dirty="0"/>
              <a:t>Scalability</a:t>
            </a:r>
            <a:r>
              <a:rPr lang="en-US" sz="1600" dirty="0"/>
              <a:t>: The pipeline can be adapted and scaled for other regions and datasets, making it a reusable and extensible solution.</a:t>
            </a:r>
          </a:p>
          <a:p>
            <a:pPr marL="285750" indent="-285750">
              <a:buFont typeface="Arial" panose="020B0604020202020204" pitchFamily="34" charset="0"/>
              <a:buChar char="•"/>
            </a:pPr>
            <a:r>
              <a:rPr lang="en-US" sz="1600" b="1" dirty="0"/>
              <a:t>Real-World Impact</a:t>
            </a:r>
            <a:r>
              <a:rPr lang="en-US" sz="1600" dirty="0"/>
              <a:t>: This approach can serve as a valuable tool for forest departments, disaster management teams, and policy-makers for early detection and classification of fires, potentially minimizing damage and saving lives.</a:t>
            </a:r>
          </a:p>
          <a:p>
            <a:r>
              <a:rPr lang="en-US" sz="1600" b="1" dirty="0">
                <a:solidFill>
                  <a:srgbClr val="213163"/>
                </a:solidFill>
              </a:rPr>
              <a:t> </a:t>
            </a:r>
            <a:endParaRPr lang="en-IN" sz="1600" dirty="0">
              <a:solidFill>
                <a:srgbClr val="213163"/>
              </a:solidFill>
            </a:endParaRPr>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31</TotalTime>
  <Words>883</Words>
  <Application>Microsoft Office PowerPoint</Application>
  <PresentationFormat>Widescreen</PresentationFormat>
  <Paragraphs>99</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KHADEER KHAN</cp:lastModifiedBy>
  <cp:revision>6</cp:revision>
  <dcterms:created xsi:type="dcterms:W3CDTF">2024-12-31T09:40:01Z</dcterms:created>
  <dcterms:modified xsi:type="dcterms:W3CDTF">2025-08-03T18:36:36Z</dcterms:modified>
</cp:coreProperties>
</file>